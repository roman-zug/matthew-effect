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3E5027-0B21-4B2C-A492-555B8AEA8F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CCD240-5BA1-4D5C-8CB6-E71EAE78880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2355840" y="524520"/>
            <a:ext cx="5427000" cy="4284000"/>
          </a:xfrm>
          <a:prstGeom prst="rect">
            <a:avLst/>
          </a:prstGeom>
          <a:ln w="0">
            <a:noFill/>
          </a:ln>
        </p:spPr>
      </p:pic>
      <p:sp>
        <p:nvSpPr>
          <p:cNvPr id="8" name=""/>
          <p:cNvSpPr/>
          <p:nvPr/>
        </p:nvSpPr>
        <p:spPr>
          <a:xfrm>
            <a:off x="457200" y="4921200"/>
            <a:ext cx="93708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Figure S4.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Example of the temporal dynamics of a colony life cycle with seasonality, which means that production of sexuals starts at some time point called </a:t>
            </a: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16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Sexual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. Here, </a:t>
            </a: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16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Sexual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= 100.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228600" y="4633200"/>
            <a:ext cx="9828000" cy="99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Figure S5.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Lifetime production of sexual eggs as a function of the proportion of resources allocated into reproduction, </a:t>
            </a: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x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, with seasonality (</a:t>
            </a: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16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Sexual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= 200). (a) 1 simulation run; (b) The blue line shows the mean of 100 simulation runs, the black line shows a polynomial fit (degree = 3), and the red dot shows the maximum of the fit. Number of sexual eggs not log-transformed.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865800" y="143640"/>
            <a:ext cx="8346600" cy="438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353880" y="4813560"/>
            <a:ext cx="937080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Figure S6.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Queen lifespan (a), lifetime production of total eggs (b), production of total eggs as a rate (c), and production of sexual eggs as a rate (d) as a function of the proportion of resources allocated into reproduction, </a:t>
            </a: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x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, with seasonality (</a:t>
            </a: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16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Sexual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= 200). Number of sexual eggs not log-transformed.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1"/>
          <a:srcRect l="0" t="-34" r="0" b="3208"/>
          <a:stretch/>
        </p:blipFill>
        <p:spPr>
          <a:xfrm>
            <a:off x="2288160" y="72000"/>
            <a:ext cx="5504040" cy="475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rcRect l="0" t="-27" r="0" b="0"/>
          <a:stretch/>
        </p:blipFill>
        <p:spPr>
          <a:xfrm>
            <a:off x="1396440" y="72000"/>
            <a:ext cx="7286400" cy="5009400"/>
          </a:xfrm>
          <a:prstGeom prst="rect">
            <a:avLst/>
          </a:prstGeom>
          <a:ln w="0">
            <a:noFill/>
          </a:ln>
        </p:spPr>
      </p:pic>
      <p:sp>
        <p:nvSpPr>
          <p:cNvPr id="14" name=""/>
          <p:cNvSpPr/>
          <p:nvPr/>
        </p:nvSpPr>
        <p:spPr>
          <a:xfrm>
            <a:off x="353880" y="4962960"/>
            <a:ext cx="937080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Figure S7.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Correlation between queen lifespan and fecundity, shown for different measures of queen fecundity (rows) and different </a:t>
            </a: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x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values used by queens (columns), with seasonality (</a:t>
            </a: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16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Sexual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= 200).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rcRect l="0" t="3898" r="0" b="0"/>
          <a:stretch/>
        </p:blipFill>
        <p:spPr>
          <a:xfrm>
            <a:off x="1565640" y="156600"/>
            <a:ext cx="6948360" cy="4708800"/>
          </a:xfrm>
          <a:prstGeom prst="rect">
            <a:avLst/>
          </a:prstGeom>
          <a:ln w="0">
            <a:noFill/>
          </a:ln>
        </p:spPr>
      </p:pic>
      <p:sp>
        <p:nvSpPr>
          <p:cNvPr id="16" name=""/>
          <p:cNvSpPr/>
          <p:nvPr/>
        </p:nvSpPr>
        <p:spPr>
          <a:xfrm>
            <a:off x="353880" y="4782960"/>
            <a:ext cx="937080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Figure S8.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Distribution of correlation between queen lifespan and fecundity, shown for different measures of queen fecundity (rows) and different </a:t>
            </a: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x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values used by queens (columns), for 50 randomly chosen combinations of values for parameters </a:t>
            </a:r>
            <a:r>
              <a:rPr b="0" i="1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μ</a:t>
            </a:r>
            <a:r>
              <a:rPr b="0" lang="en-US" sz="1600" spc="-1" strike="noStrike" baseline="-8000">
                <a:solidFill>
                  <a:srgbClr val="000000"/>
                </a:solidFill>
                <a:latin typeface="Arial"/>
                <a:ea typeface="DejaVu Sans"/>
              </a:rPr>
              <a:t>W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, </a:t>
            </a:r>
            <a:r>
              <a:rPr b="0" i="1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μ</a:t>
            </a:r>
            <a:r>
              <a:rPr b="0" lang="en-US" sz="1600" spc="-1" strike="noStrike" baseline="-8000">
                <a:solidFill>
                  <a:srgbClr val="000000"/>
                </a:solidFill>
                <a:latin typeface="Arial"/>
                <a:ea typeface="DejaVu Sans"/>
              </a:rPr>
              <a:t>Q0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, </a:t>
            </a: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a</a:t>
            </a:r>
            <a:r>
              <a:rPr b="0" lang="en-US" sz="16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1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, </a:t>
            </a: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a</a:t>
            </a:r>
            <a:r>
              <a:rPr b="0" lang="en-US" sz="16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2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, and </a:t>
            </a: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a</a:t>
            </a:r>
            <a:r>
              <a:rPr b="0" lang="en-US" sz="16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3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, with seasonality (</a:t>
            </a:r>
            <a:r>
              <a:rPr b="0" i="1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16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Sexual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= 200).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13594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2025-02-12T17:05:57Z</dcterms:created>
  <dc:creator>Roman Zug</dc:creator>
  <dc:description/>
  <dc:language>en-US</dc:language>
  <cp:lastModifiedBy>Roman Zug</cp:lastModifiedBy>
  <dcterms:modified xsi:type="dcterms:W3CDTF">2025-04-04T13:40:45Z</dcterms:modified>
  <cp:revision>27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